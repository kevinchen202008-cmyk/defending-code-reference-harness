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F3A5F"/>
                </a:solidFill>
                <a:latin typeface="Microsoft YaHei"/>
                <a:ea typeface="Microsoft YaHei"/>
              </a:rPr>
              <a:t>内部漏洞挖掘平台 · 架构总览（v3.3）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566928"/>
            <a:ext cx="11548872" cy="1883664"/>
          </a:xfrm>
          <a:prstGeom prst="roundRect">
            <a:avLst>
              <a:gd name="adj" fmla="val 3000"/>
            </a:avLst>
          </a:prstGeom>
          <a:solidFill>
            <a:srgbClr val="F2F7FC"/>
          </a:solidFill>
          <a:ln w="2540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03504"/>
            <a:ext cx="1124712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Microsoft YaHei"/>
                <a:ea typeface="Microsoft YaHei"/>
              </a:rPr>
              <a:t>① 漏洞扫描服务层（任务编排 · 资源与能力管理）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77824"/>
            <a:ext cx="2011680" cy="1645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7088"/>
                </a:solidFill>
                <a:latin typeface="Microsoft YaHei"/>
                <a:ea typeface="Microsoft YaHei"/>
              </a:rPr>
              <a:t>挖掘任务（接收 → 关键要素）：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60704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E7F0EF"/>
          </a:solidFill>
          <a:ln w="17780">
            <a:solidFill>
              <a:srgbClr val="2C8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60704"/>
            <a:ext cx="16916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80" b="1">
                <a:solidFill>
                  <a:srgbClr val="1F3A5F"/>
                </a:solidFill>
                <a:latin typeface="Microsoft YaHei"/>
                <a:ea typeface="Microsoft YaHei"/>
              </a:rPr>
              <a:t>接收任务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00" b="0">
                <a:solidFill>
                  <a:srgbClr val="33414F"/>
                </a:solidFill>
                <a:latin typeface="Microsoft YaHei"/>
                <a:ea typeface="Microsoft YaHei"/>
              </a:rPr>
              <a:t>CI / 人工提交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57984" y="1271016"/>
            <a:ext cx="192024" cy="146304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50008" y="1060704"/>
            <a:ext cx="1975104" cy="566928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778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50008" y="1060704"/>
            <a:ext cx="1975104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40" b="1">
                <a:solidFill>
                  <a:srgbClr val="1F3A5F"/>
                </a:solidFill>
                <a:latin typeface="Microsoft YaHei"/>
                <a:ea typeface="Microsoft YaHei"/>
              </a:rPr>
              <a:t>挖掘对象（必选）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680" b="0">
                <a:solidFill>
                  <a:srgbClr val="33414F"/>
                </a:solidFill>
                <a:latin typeface="Microsoft YaHei"/>
                <a:ea typeface="Microsoft YaHei"/>
              </a:rPr>
              <a:t>代码库/软件包/在线服务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060704"/>
            <a:ext cx="1975104" cy="566928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778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060704"/>
            <a:ext cx="1975104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40" b="1">
                <a:solidFill>
                  <a:srgbClr val="1F3A5F"/>
                </a:solidFill>
                <a:latin typeface="Microsoft YaHei"/>
                <a:ea typeface="Microsoft YaHei"/>
              </a:rPr>
              <a:t>AI 挖掘引擎（必选）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680" b="0">
                <a:solidFill>
                  <a:srgbClr val="33414F"/>
                </a:solidFill>
                <a:latin typeface="Microsoft YaHei"/>
                <a:ea typeface="Microsoft YaHei"/>
              </a:rPr>
              <a:t>指定实现体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64808" y="1060704"/>
            <a:ext cx="1975104" cy="566928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20320">
            <a:solidFill>
              <a:srgbClr val="5B70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060704"/>
            <a:ext cx="1975104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40" b="1">
                <a:solidFill>
                  <a:srgbClr val="3B5B7A"/>
                </a:solidFill>
                <a:latin typeface="Microsoft YaHei"/>
                <a:ea typeface="Microsoft YaHei"/>
              </a:rPr>
              <a:t>沙箱环境配置（可选）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680" b="0">
                <a:solidFill>
                  <a:srgbClr val="33414F"/>
                </a:solidFill>
                <a:latin typeface="Microsoft YaHei"/>
                <a:ea typeface="Microsoft YaHei"/>
              </a:rPr>
              <a:t>容器/microVM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22208" y="1060704"/>
            <a:ext cx="1975104" cy="566928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20320">
            <a:solidFill>
              <a:srgbClr val="5B70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1060704"/>
            <a:ext cx="1975104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40" b="1">
                <a:solidFill>
                  <a:srgbClr val="3B5B7A"/>
                </a:solidFill>
                <a:latin typeface="Microsoft YaHei"/>
                <a:ea typeface="Microsoft YaHei"/>
              </a:rPr>
              <a:t>产品知识配置（可选）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680" b="0">
                <a:solidFill>
                  <a:srgbClr val="33414F"/>
                </a:solidFill>
                <a:latin typeface="Microsoft YaHei"/>
                <a:ea typeface="Microsoft YaHei"/>
              </a:rPr>
              <a:t>知识库/历史漏洞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700784"/>
            <a:ext cx="6400800" cy="14630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7088"/>
                </a:solidFill>
                <a:latin typeface="Microsoft YaHei"/>
                <a:ea typeface="Microsoft YaHei"/>
              </a:rPr>
              <a:t>支撑能力 · 服务模块（背书可选配置、算力与引擎）：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865376"/>
            <a:ext cx="2157984" cy="45720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1524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1865376"/>
            <a:ext cx="215798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30" b="1">
                <a:solidFill>
                  <a:srgbClr val="1F3A5F"/>
                </a:solidFill>
                <a:latin typeface="Microsoft YaHei"/>
                <a:ea typeface="Microsoft YaHei"/>
              </a:rPr>
              <a:t>任务生命周期管理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92908" y="1865376"/>
            <a:ext cx="2157984" cy="45720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1524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92908" y="1865376"/>
            <a:ext cx="215798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30" b="1">
                <a:solidFill>
                  <a:srgbClr val="1F3A5F"/>
                </a:solidFill>
                <a:latin typeface="Microsoft YaHei"/>
                <a:ea typeface="Microsoft YaHei"/>
              </a:rPr>
              <a:t>LLM 算力（API 并发）管理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28616" y="1865376"/>
            <a:ext cx="2157984" cy="45720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1524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28616" y="1865376"/>
            <a:ext cx="215798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30" b="1">
                <a:solidFill>
                  <a:srgbClr val="1F3A5F"/>
                </a:solidFill>
                <a:latin typeface="Microsoft YaHei"/>
                <a:ea typeface="Microsoft YaHei"/>
              </a:rPr>
              <a:t>沙箱环境资源池管理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64324" y="1865376"/>
            <a:ext cx="2157984" cy="457200"/>
          </a:xfrm>
          <a:prstGeom prst="roundRect">
            <a:avLst>
              <a:gd name="adj" fmla="val 12000"/>
            </a:avLst>
          </a:prstGeom>
          <a:solidFill>
            <a:srgbClr val="EAF1F8"/>
          </a:solidFill>
          <a:ln w="1524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64324" y="1865376"/>
            <a:ext cx="215798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30" b="1">
                <a:solidFill>
                  <a:srgbClr val="1F3A5F"/>
                </a:solidFill>
                <a:latin typeface="Microsoft YaHei"/>
                <a:ea typeface="Microsoft YaHei"/>
              </a:rPr>
              <a:t>产品知识库管理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00032" y="1865376"/>
            <a:ext cx="2157984" cy="457200"/>
          </a:xfrm>
          <a:prstGeom prst="roundRect">
            <a:avLst>
              <a:gd name="adj" fmla="val 12000"/>
            </a:avLst>
          </a:prstGeom>
          <a:solidFill>
            <a:srgbClr val="E7F0EF"/>
          </a:solidFill>
          <a:ln w="15240">
            <a:solidFill>
              <a:srgbClr val="2C8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1865376"/>
            <a:ext cx="215798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30" b="1">
                <a:solidFill>
                  <a:srgbClr val="1F5B63"/>
                </a:solidFill>
                <a:latin typeface="Microsoft YaHei"/>
                <a:ea typeface="Microsoft YaHei"/>
              </a:rPr>
              <a:t>挖掘引擎管理服务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6022695" y="2450592"/>
            <a:ext cx="146304" cy="182880"/>
          </a:xfrm>
          <a:prstGeom prst="downArrow">
            <a:avLst>
              <a:gd name="adj1" fmla="val 45000"/>
              <a:gd name="adj2" fmla="val 55000"/>
            </a:avLst>
          </a:prstGeom>
          <a:solidFill>
            <a:srgbClr val="5B70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280160" y="2670048"/>
            <a:ext cx="9628632" cy="1225296"/>
          </a:xfrm>
          <a:prstGeom prst="roundRect">
            <a:avLst>
              <a:gd name="adj" fmla="val 5000"/>
            </a:avLst>
          </a:prstGeom>
          <a:solidFill>
            <a:srgbClr val="EDF2F9"/>
          </a:solidFill>
          <a:ln w="2540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2715768"/>
            <a:ext cx="962863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Microsoft YaHei"/>
                <a:ea typeface="Microsoft YaHei"/>
              </a:rPr>
              <a:t>【AI 挖掘引擎】  ②~⑥ 为一体 · 多实现体 · 可插拔（黑盒）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2935224"/>
            <a:ext cx="9628632" cy="1828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780" b="0">
                <a:solidFill>
                  <a:srgbClr val="5B7088"/>
                </a:solidFill>
                <a:latin typeface="Microsoft YaHei"/>
                <a:ea typeface="Microsoft YaHei"/>
              </a:rPr>
              <a:t>实现体（可插拔·热插拔，由 ① 挖掘引擎管理服务热管理）：自研多-Agent · Codex Security 式 · Claude Mythos / Glasswing 式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1348" y="3218688"/>
            <a:ext cx="1700784" cy="512064"/>
          </a:xfrm>
          <a:prstGeom prst="roundRect">
            <a:avLst>
              <a:gd name="adj" fmla="val 16000"/>
            </a:avLst>
          </a:prstGeom>
          <a:solidFill>
            <a:srgbClr val="EAF1F8"/>
          </a:solidFill>
          <a:ln w="1651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1348" y="3218688"/>
            <a:ext cx="1700784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1F3A5F"/>
                </a:solidFill>
                <a:latin typeface="Microsoft YaHei"/>
                <a:ea typeface="Microsoft YaHei"/>
              </a:rPr>
              <a:t>② 分析引擎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3344875" y="3401568"/>
            <a:ext cx="97841" cy="146304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42716" y="3218688"/>
            <a:ext cx="1700784" cy="512064"/>
          </a:xfrm>
          <a:prstGeom prst="roundRect">
            <a:avLst>
              <a:gd name="adj" fmla="val 16000"/>
            </a:avLst>
          </a:prstGeom>
          <a:solidFill>
            <a:srgbClr val="EAF1F8"/>
          </a:solidFill>
          <a:ln w="1651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42716" y="3218688"/>
            <a:ext cx="1700784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1F3A5F"/>
                </a:solidFill>
                <a:latin typeface="Microsoft YaHei"/>
                <a:ea typeface="Microsoft YaHei"/>
              </a:rPr>
              <a:t>③ Agent 编排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5146243" y="3401568"/>
            <a:ext cx="97841" cy="146304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244084" y="3218688"/>
            <a:ext cx="1700784" cy="512064"/>
          </a:xfrm>
          <a:prstGeom prst="roundRect">
            <a:avLst>
              <a:gd name="adj" fmla="val 16000"/>
            </a:avLst>
          </a:prstGeom>
          <a:solidFill>
            <a:srgbClr val="EAF1F8"/>
          </a:solidFill>
          <a:ln w="1651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44084" y="3218688"/>
            <a:ext cx="1700784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1F3A5F"/>
                </a:solidFill>
                <a:latin typeface="Microsoft YaHei"/>
                <a:ea typeface="Microsoft YaHei"/>
              </a:rPr>
              <a:t>④ 沙箱验证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6947611" y="3401568"/>
            <a:ext cx="97841" cy="146304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045452" y="3218688"/>
            <a:ext cx="1700784" cy="512064"/>
          </a:xfrm>
          <a:prstGeom prst="roundRect">
            <a:avLst>
              <a:gd name="adj" fmla="val 16000"/>
            </a:avLst>
          </a:prstGeom>
          <a:solidFill>
            <a:srgbClr val="FFF3DE"/>
          </a:solidFill>
          <a:ln w="16510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5452" y="3218688"/>
            <a:ext cx="1700784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8A5300"/>
                </a:solidFill>
                <a:latin typeface="Microsoft YaHei"/>
                <a:ea typeface="Microsoft YaHei"/>
              </a:rPr>
              <a:t>⑤ 自动修复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8748979" y="3401568"/>
            <a:ext cx="97841" cy="146304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846820" y="3218688"/>
            <a:ext cx="1700784" cy="512064"/>
          </a:xfrm>
          <a:prstGeom prst="roundRect">
            <a:avLst>
              <a:gd name="adj" fmla="val 16000"/>
            </a:avLst>
          </a:prstGeom>
          <a:solidFill>
            <a:srgbClr val="FFF3DE"/>
          </a:solidFill>
          <a:ln w="16510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46820" y="3218688"/>
            <a:ext cx="1700784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80" b="1">
                <a:solidFill>
                  <a:srgbClr val="8A5300"/>
                </a:solidFill>
                <a:latin typeface="Microsoft YaHei"/>
                <a:ea typeface="Microsoft YaHei"/>
              </a:rPr>
              <a:t>⑥ 修复验证</a:t>
            </a:r>
          </a:p>
        </p:txBody>
      </p:sp>
      <p:sp>
        <p:nvSpPr>
          <p:cNvPr id="47" name="Down Arrow 46"/>
          <p:cNvSpPr/>
          <p:nvPr/>
        </p:nvSpPr>
        <p:spPr>
          <a:xfrm>
            <a:off x="6022695" y="3895344"/>
            <a:ext cx="146304" cy="164592"/>
          </a:xfrm>
          <a:prstGeom prst="downArrow">
            <a:avLst>
              <a:gd name="adj1" fmla="val 45000"/>
              <a:gd name="adj2" fmla="val 55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57200" y="4224528"/>
            <a:ext cx="3383280" cy="987552"/>
          </a:xfrm>
          <a:prstGeom prst="roundRect">
            <a:avLst>
              <a:gd name="adj" fmla="val 10000"/>
            </a:avLst>
          </a:prstGeom>
          <a:solidFill>
            <a:srgbClr val="E7F0EF"/>
          </a:solidFill>
          <a:ln w="1778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224528"/>
            <a:ext cx="3383280" cy="9875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5B40"/>
                </a:solidFill>
                <a:latin typeface="Microsoft YaHei"/>
                <a:ea typeface="Microsoft YaHei"/>
              </a:rPr>
              <a:t>① 输出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33414F"/>
                </a:solidFill>
                <a:latin typeface="Microsoft YaHei"/>
                <a:ea typeface="Microsoft YaHei"/>
              </a:rPr>
              <a:t>漏洞结果 → 同步生成 DTS / PR（按需）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3858768" y="4645152"/>
            <a:ext cx="365760" cy="146304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224528" y="4224528"/>
            <a:ext cx="3840480" cy="987552"/>
          </a:xfrm>
          <a:prstGeom prst="roundRect">
            <a:avLst>
              <a:gd name="adj" fmla="val 10000"/>
            </a:avLst>
          </a:prstGeom>
          <a:solidFill>
            <a:srgbClr val="EAF1F8"/>
          </a:solidFill>
          <a:ln w="17780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24528" y="4224528"/>
            <a:ext cx="3840480" cy="9875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3A5F"/>
                </a:solidFill>
                <a:latin typeface="Microsoft YaHei"/>
                <a:ea typeface="Microsoft YaHei"/>
              </a:rPr>
              <a:t>⑦ 漏洞管理 / 报告与通知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33414F"/>
                </a:solidFill>
                <a:latin typeface="Microsoft YaHei"/>
                <a:ea typeface="Microsoft YaHei"/>
              </a:rPr>
              <a:t>去重·优先级·状态机 ｜ DTS·PR·看板·邮件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8083296" y="4645152"/>
            <a:ext cx="365760" cy="146304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449056" y="4224528"/>
            <a:ext cx="3291840" cy="987552"/>
          </a:xfrm>
          <a:prstGeom prst="roundRect">
            <a:avLst>
              <a:gd name="adj" fmla="val 10000"/>
            </a:avLst>
          </a:prstGeom>
          <a:solidFill>
            <a:srgbClr val="E7F0EF"/>
          </a:solidFill>
          <a:ln w="1778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49056" y="4224528"/>
            <a:ext cx="3291840" cy="9875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F5B40"/>
                </a:solidFill>
                <a:latin typeface="Microsoft YaHei"/>
                <a:ea typeface="Microsoft YaHei"/>
              </a:rPr>
              <a:t>⑧ 研发消费端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33414F"/>
                </a:solidFill>
                <a:latin typeface="Microsoft YaHei"/>
                <a:ea typeface="Microsoft YaHei"/>
              </a:rPr>
              <a:t>审核 · 合并 · 确认（合并前强制人工 approval）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5358384"/>
            <a:ext cx="1124712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B7B8C"/>
                </a:solidFill>
                <a:latin typeface="Microsoft YaHei"/>
                <a:ea typeface="Microsoft YaHei"/>
              </a:rPr>
              <a:t>底座：LLM 核心（Claude API / 私有部署）— 并发额度由 ① 漏洞扫描服务层统一分配</a:t>
            </a:r>
          </a:p>
        </p:txBody>
      </p:sp>
      <p:sp>
        <p:nvSpPr>
          <p:cNvPr id="57" name="Left Arrow 56"/>
          <p:cNvSpPr/>
          <p:nvPr/>
        </p:nvSpPr>
        <p:spPr>
          <a:xfrm>
            <a:off x="457200" y="5705856"/>
            <a:ext cx="11247120" cy="4572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E7F0EF"/>
          </a:solidFill>
          <a:ln w="1524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5705856"/>
            <a:ext cx="105156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1F5B40"/>
                </a:solidFill>
                <a:latin typeface="Microsoft YaHei"/>
                <a:ea typeface="Microsoft YaHei"/>
              </a:rPr>
              <a:t>回流：⑧ 修复合并后 → ① 漏洞扫描服务层重新下发全量扫描，确认根因彻底消除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