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743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内部漏洞挖掘平台 · 用户作业旅程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246120"/>
            <a:ext cx="105156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CFDDEC"/>
                </a:solidFill>
                <a:latin typeface="Microsoft YaHei"/>
                <a:ea typeface="Microsoft YaHei"/>
              </a:rPr>
              <a:t>简版 · 三角色旅程地图（研发工程师 / 研发 Lead / 安全团队）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88620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AEC1D6"/>
                </a:solidFill>
                <a:latin typeface="Microsoft YaHei"/>
                <a:ea typeface="Microsoft YaHei"/>
              </a:rPr>
              <a:t>阶段 × 动作 × 情绪 × 平台支撑　|　对齐架构 v3.2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4630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5B7088"/>
                </a:solidFill>
                <a:latin typeface="Microsoft YaHei"/>
                <a:ea typeface="Microsoft YaHei"/>
              </a:rPr>
              <a:t>情绪图例：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598932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5989320"/>
            <a:ext cx="128016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很受压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598932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E06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6432" y="5989320"/>
            <a:ext cx="128016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焦虑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01184" y="598932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9AA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1184" y="5989320"/>
            <a:ext cx="128016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中性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45936" y="598932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5B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5989320"/>
            <a:ext cx="128016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顺畅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0688" y="598932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5989320"/>
            <a:ext cx="128016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安心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8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研发工程师 / 仓库 Owner · 作业旅程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41248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7088"/>
                </a:solidFill>
                <a:latin typeface="Microsoft YaHei"/>
                <a:ea typeface="Microsoft YaHei"/>
              </a:rPr>
              <a:t>消费端主力：接收漏洞 → 读报告 → 审阅 AI 补丁 → 审批合并 → 闭环确认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1788109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1788109" cy="713232"/>
          </a:xfrm>
          <a:prstGeom prst="roundRect">
            <a:avLst>
              <a:gd name="adj" fmla="val 10000"/>
            </a:avLst>
          </a:prstGeom>
          <a:solidFill>
            <a:srgbClr val="2C8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63624"/>
            <a:ext cx="178810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DEAF4"/>
                </a:solidFill>
                <a:latin typeface="Microsoft YaHei"/>
                <a:ea typeface="Microsoft YaHei"/>
              </a:rPr>
              <a:t>阶段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19656"/>
            <a:ext cx="178810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提交/推送对象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2594" y="2441448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5B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594" y="2487168"/>
            <a:ext cx="1417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几乎无感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1788109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7088"/>
                </a:solidFill>
                <a:latin typeface="Microsoft YaHei"/>
                <a:ea typeface="Microsoft YaHei"/>
              </a:rPr>
              <a:t>情绪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91840"/>
            <a:ext cx="1605229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2C8C99"/>
                </a:solidFill>
                <a:latin typeface="Microsoft YaHei"/>
                <a:ea typeface="Microsoft YaHei"/>
              </a:rPr>
              <a:t>动作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3414F"/>
                </a:solidFill>
                <a:latin typeface="Microsoft YaHei"/>
                <a:ea typeface="Microsoft YaHei"/>
              </a:rPr>
              <a:t>push 代码或提交 代码库/软件包/在线服务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4206240"/>
            <a:ext cx="1641805" cy="822960"/>
          </a:xfrm>
          <a:prstGeom prst="roundRect">
            <a:avLst>
              <a:gd name="adj" fmla="val 12000"/>
            </a:avLst>
          </a:prstGeom>
          <a:solidFill>
            <a:srgbClr val="EFF6F1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4251960"/>
            <a:ext cx="1513789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E8B57"/>
                </a:solidFill>
                <a:latin typeface="Microsoft YaHei"/>
                <a:ea typeface="Microsoft YaHei"/>
              </a:rPr>
              <a:t>平台支撑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5B40"/>
                </a:solidFill>
                <a:latin typeface="Microsoft YaHei"/>
                <a:ea typeface="Microsoft YaHei"/>
              </a:rPr>
              <a:t>① 漏洞扫描服务层统一接任务·异步非阻塞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254453" y="2468880"/>
            <a:ext cx="91440" cy="4572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355037" y="1508760"/>
            <a:ext cx="1788109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355037" y="1508760"/>
            <a:ext cx="1788109" cy="713232"/>
          </a:xfrm>
          <a:prstGeom prst="roundRect">
            <a:avLst>
              <a:gd name="adj" fmla="val 10000"/>
            </a:avLst>
          </a:prstGeom>
          <a:solidFill>
            <a:srgbClr val="2C8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5037" y="1563624"/>
            <a:ext cx="178810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DEAF4"/>
                </a:solidFill>
                <a:latin typeface="Microsoft YaHei"/>
                <a:ea typeface="Microsoft YaHei"/>
              </a:rPr>
              <a:t>阶段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5037" y="1819656"/>
            <a:ext cx="178810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收到通知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40431" y="2441448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E06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40431" y="2487168"/>
            <a:ext cx="1417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焦虑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55037" y="2926080"/>
            <a:ext cx="1788109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7088"/>
                </a:solidFill>
                <a:latin typeface="Microsoft YaHei"/>
                <a:ea typeface="Microsoft YaHei"/>
              </a:rPr>
              <a:t>情绪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46477" y="3291840"/>
            <a:ext cx="1605229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2C8C99"/>
                </a:solidFill>
                <a:latin typeface="Microsoft YaHei"/>
                <a:ea typeface="Microsoft YaHei"/>
              </a:rPr>
              <a:t>动作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3414F"/>
                </a:solidFill>
                <a:latin typeface="Microsoft YaHei"/>
                <a:ea typeface="Microsoft YaHei"/>
              </a:rPr>
              <a:t>Jira/Slack/IDE 指派漏洞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28189" y="4206240"/>
            <a:ext cx="1641805" cy="822960"/>
          </a:xfrm>
          <a:prstGeom prst="roundRect">
            <a:avLst>
              <a:gd name="adj" fmla="val 12000"/>
            </a:avLst>
          </a:prstGeom>
          <a:solidFill>
            <a:srgbClr val="EFF6F1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01341" y="4251960"/>
            <a:ext cx="1513789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E8B57"/>
                </a:solidFill>
                <a:latin typeface="Microsoft YaHei"/>
                <a:ea typeface="Microsoft YaHei"/>
              </a:rPr>
              <a:t>平台支撑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5B40"/>
                </a:solidFill>
                <a:latin typeface="Microsoft YaHei"/>
                <a:ea typeface="Microsoft YaHei"/>
              </a:rPr>
              <a:t>⑦ 72h 去重与通知抑制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152290" y="2468880"/>
            <a:ext cx="91440" cy="4572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252874" y="1508760"/>
            <a:ext cx="1788109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252874" y="1508760"/>
            <a:ext cx="1788109" cy="713232"/>
          </a:xfrm>
          <a:prstGeom prst="roundRect">
            <a:avLst>
              <a:gd name="adj" fmla="val 10000"/>
            </a:avLst>
          </a:prstGeom>
          <a:solidFill>
            <a:srgbClr val="2C8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2874" y="1563624"/>
            <a:ext cx="178810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DEAF4"/>
                </a:solidFill>
                <a:latin typeface="Microsoft YaHei"/>
                <a:ea typeface="Microsoft YaHei"/>
              </a:rPr>
              <a:t>阶段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2874" y="1819656"/>
            <a:ext cx="178810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阅读报告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8268" y="2441448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5B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8268" y="2487168"/>
            <a:ext cx="1417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信息齐全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2874" y="2926080"/>
            <a:ext cx="1788109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7088"/>
                </a:solidFill>
                <a:latin typeface="Microsoft YaHei"/>
                <a:ea typeface="Microsoft YaHei"/>
              </a:rPr>
              <a:t>情绪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4314" y="3291840"/>
            <a:ext cx="1605229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2C8C99"/>
                </a:solidFill>
                <a:latin typeface="Microsoft YaHei"/>
                <a:ea typeface="Microsoft YaHei"/>
              </a:rPr>
              <a:t>动作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3414F"/>
                </a:solidFill>
                <a:latin typeface="Microsoft YaHei"/>
                <a:ea typeface="Microsoft YaHei"/>
              </a:rPr>
              <a:t>CVE/CWE/CVSS·复现·根因·修复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26026" y="4206240"/>
            <a:ext cx="1641805" cy="822960"/>
          </a:xfrm>
          <a:prstGeom prst="roundRect">
            <a:avLst>
              <a:gd name="adj" fmla="val 12000"/>
            </a:avLst>
          </a:prstGeom>
          <a:solidFill>
            <a:srgbClr val="EFF6F1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99178" y="4251960"/>
            <a:ext cx="1513789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E8B57"/>
                </a:solidFill>
                <a:latin typeface="Microsoft YaHei"/>
                <a:ea typeface="Microsoft YaHei"/>
              </a:rPr>
              <a:t>平台支撑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5B40"/>
                </a:solidFill>
                <a:latin typeface="Microsoft YaHei"/>
                <a:ea typeface="Microsoft YaHei"/>
              </a:rPr>
              <a:t>④ 沙箱已验证，过滤误报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6050127" y="2468880"/>
            <a:ext cx="91440" cy="4572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150711" y="1508760"/>
            <a:ext cx="1788109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50711" y="1508760"/>
            <a:ext cx="1788109" cy="713232"/>
          </a:xfrm>
          <a:prstGeom prst="roundRect">
            <a:avLst>
              <a:gd name="adj" fmla="val 10000"/>
            </a:avLst>
          </a:prstGeom>
          <a:solidFill>
            <a:srgbClr val="2C8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50711" y="1563624"/>
            <a:ext cx="178810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DEAF4"/>
                </a:solidFill>
                <a:latin typeface="Microsoft YaHei"/>
                <a:ea typeface="Microsoft YaHei"/>
              </a:rPr>
              <a:t>阶段 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50711" y="1819656"/>
            <a:ext cx="178810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审阅补丁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36105" y="2441448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9AA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36105" y="2487168"/>
            <a:ext cx="1417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省心要把关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50711" y="2926080"/>
            <a:ext cx="1788109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7088"/>
                </a:solidFill>
                <a:latin typeface="Microsoft YaHei"/>
                <a:ea typeface="Microsoft YaHei"/>
              </a:rPr>
              <a:t>情绪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42151" y="3291840"/>
            <a:ext cx="1605229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2C8C99"/>
                </a:solidFill>
                <a:latin typeface="Microsoft YaHei"/>
                <a:ea typeface="Microsoft YaHei"/>
              </a:rPr>
              <a:t>动作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3414F"/>
                </a:solidFill>
                <a:latin typeface="Microsoft YaHei"/>
                <a:ea typeface="Microsoft YaHei"/>
              </a:rPr>
              <a:t>看 AI 补丁 diff 与验证报告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23863" y="4206240"/>
            <a:ext cx="1641805" cy="822960"/>
          </a:xfrm>
          <a:prstGeom prst="roundRect">
            <a:avLst>
              <a:gd name="adj" fmla="val 12000"/>
            </a:avLst>
          </a:prstGeom>
          <a:solidFill>
            <a:srgbClr val="EFF6F1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97015" y="4251960"/>
            <a:ext cx="1513789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E8B57"/>
                </a:solidFill>
                <a:latin typeface="Microsoft YaHei"/>
                <a:ea typeface="Microsoft YaHei"/>
              </a:rPr>
              <a:t>平台支撑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5B40"/>
                </a:solidFill>
                <a:latin typeface="Microsoft YaHei"/>
                <a:ea typeface="Microsoft YaHei"/>
              </a:rPr>
              <a:t>⑤⑥ 独立扫描 + 可回滚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7947964" y="2468880"/>
            <a:ext cx="91440" cy="4572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048548" y="1508760"/>
            <a:ext cx="1788109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048548" y="1508760"/>
            <a:ext cx="1788109" cy="713232"/>
          </a:xfrm>
          <a:prstGeom prst="roundRect">
            <a:avLst>
              <a:gd name="adj" fmla="val 10000"/>
            </a:avLst>
          </a:prstGeom>
          <a:solidFill>
            <a:srgbClr val="2C8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48548" y="1563624"/>
            <a:ext cx="178810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DEAF4"/>
                </a:solidFill>
                <a:latin typeface="Microsoft YaHei"/>
                <a:ea typeface="Microsoft YaHei"/>
              </a:rPr>
              <a:t>阶段 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8548" y="1819656"/>
            <a:ext cx="178810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审批合并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33942" y="2441448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5B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33942" y="2487168"/>
            <a:ext cx="1417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掌控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48548" y="2926080"/>
            <a:ext cx="1788109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7088"/>
                </a:solidFill>
                <a:latin typeface="Microsoft YaHei"/>
                <a:ea typeface="Microsoft YaHei"/>
              </a:rPr>
              <a:t>情绪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9988" y="3291840"/>
            <a:ext cx="1605229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2C8C99"/>
                </a:solidFill>
                <a:latin typeface="Microsoft YaHei"/>
                <a:ea typeface="Microsoft YaHei"/>
              </a:rPr>
              <a:t>动作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3414F"/>
                </a:solidFill>
                <a:latin typeface="Microsoft YaHei"/>
                <a:ea typeface="Microsoft YaHei"/>
              </a:rPr>
              <a:t>人工 approval 后合并(72/48h)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21700" y="4206240"/>
            <a:ext cx="1641805" cy="822960"/>
          </a:xfrm>
          <a:prstGeom prst="roundRect">
            <a:avLst>
              <a:gd name="adj" fmla="val 12000"/>
            </a:avLst>
          </a:prstGeom>
          <a:solidFill>
            <a:srgbClr val="EFF6F1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94852" y="4251960"/>
            <a:ext cx="1513789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E8B57"/>
                </a:solidFill>
                <a:latin typeface="Microsoft YaHei"/>
                <a:ea typeface="Microsoft YaHei"/>
              </a:rPr>
              <a:t>平台支撑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5B40"/>
                </a:solidFill>
                <a:latin typeface="Microsoft YaHei"/>
                <a:ea typeface="Microsoft YaHei"/>
              </a:rPr>
              <a:t>⑧ 强制人工 approval</a:t>
            </a:r>
          </a:p>
        </p:txBody>
      </p:sp>
      <p:sp>
        <p:nvSpPr>
          <p:cNvPr id="60" name="Right Arrow 59"/>
          <p:cNvSpPr/>
          <p:nvPr/>
        </p:nvSpPr>
        <p:spPr>
          <a:xfrm>
            <a:off x="9845801" y="2468880"/>
            <a:ext cx="91440" cy="4572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9946385" y="1508760"/>
            <a:ext cx="1788109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946385" y="1508760"/>
            <a:ext cx="1788109" cy="713232"/>
          </a:xfrm>
          <a:prstGeom prst="roundRect">
            <a:avLst>
              <a:gd name="adj" fmla="val 10000"/>
            </a:avLst>
          </a:prstGeom>
          <a:solidFill>
            <a:srgbClr val="2C8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46385" y="1563624"/>
            <a:ext cx="178810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DEAF4"/>
                </a:solidFill>
                <a:latin typeface="Microsoft YaHei"/>
                <a:ea typeface="Microsoft YaHei"/>
              </a:rPr>
              <a:t>阶段 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46385" y="1819656"/>
            <a:ext cx="178810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闭环确认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131779" y="2441448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131779" y="2487168"/>
            <a:ext cx="1417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安心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946385" y="2926080"/>
            <a:ext cx="1788109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7088"/>
                </a:solidFill>
                <a:latin typeface="Microsoft YaHei"/>
                <a:ea typeface="Microsoft YaHei"/>
              </a:rPr>
              <a:t>情绪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37825" y="3291840"/>
            <a:ext cx="1605229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2C8C99"/>
                </a:solidFill>
                <a:latin typeface="Microsoft YaHei"/>
                <a:ea typeface="Microsoft YaHei"/>
              </a:rPr>
              <a:t>动作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3414F"/>
                </a:solidFill>
                <a:latin typeface="Microsoft YaHei"/>
                <a:ea typeface="Microsoft YaHei"/>
              </a:rPr>
              <a:t>合并后①重新下发全量扫描→已关闭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019537" y="4206240"/>
            <a:ext cx="1641805" cy="822960"/>
          </a:xfrm>
          <a:prstGeom prst="roundRect">
            <a:avLst>
              <a:gd name="adj" fmla="val 12000"/>
            </a:avLst>
          </a:prstGeom>
          <a:solidFill>
            <a:srgbClr val="EFF6F1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092689" y="4251960"/>
            <a:ext cx="1513789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E8B57"/>
                </a:solidFill>
                <a:latin typeface="Microsoft YaHei"/>
                <a:ea typeface="Microsoft YaHei"/>
              </a:rPr>
              <a:t>平台支撑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5B40"/>
                </a:solidFill>
                <a:latin typeface="Microsoft YaHei"/>
                <a:ea typeface="Microsoft YaHei"/>
              </a:rPr>
              <a:t>修复后重扫回流 + 状态机上限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" y="63550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7088"/>
                </a:solidFill>
                <a:latin typeface="Microsoft YaHei"/>
                <a:ea typeface="Microsoft YaHei"/>
              </a:rPr>
              <a:t>情绪沿旅程变化　·　每阶段绿色块为对应的平台支撑（v3.2）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研发 Lead · 作业旅程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41248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7088"/>
                </a:solidFill>
                <a:latin typeface="Microsoft YaHei"/>
                <a:ea typeface="Microsoft YaHei"/>
              </a:rPr>
              <a:t>把关者：审核中/高危补丁 · 把控合并门控 · 跟踪团队 SLA 与回归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1788109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1788109" cy="713232"/>
          </a:xfrm>
          <a:prstGeom prst="roundRect">
            <a:avLst>
              <a:gd name="adj" fmla="val 10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63624"/>
            <a:ext cx="178810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DEAF4"/>
                </a:solidFill>
                <a:latin typeface="Microsoft YaHei"/>
                <a:ea typeface="Microsoft YaHei"/>
              </a:rPr>
              <a:t>阶段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19656"/>
            <a:ext cx="178810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态势总览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2594" y="2441448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9AA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594" y="2487168"/>
            <a:ext cx="1417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有 SLA 压力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1788109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7088"/>
                </a:solidFill>
                <a:latin typeface="Microsoft YaHei"/>
                <a:ea typeface="Microsoft YaHei"/>
              </a:rPr>
              <a:t>情绪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91840"/>
            <a:ext cx="1605229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2E74B5"/>
                </a:solidFill>
                <a:latin typeface="Microsoft YaHei"/>
                <a:ea typeface="Microsoft YaHei"/>
              </a:rPr>
              <a:t>动作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3414F"/>
                </a:solidFill>
                <a:latin typeface="Microsoft YaHei"/>
                <a:ea typeface="Microsoft YaHei"/>
              </a:rPr>
              <a:t>看安全评分/SLA/趋势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4206240"/>
            <a:ext cx="1641805" cy="822960"/>
          </a:xfrm>
          <a:prstGeom prst="roundRect">
            <a:avLst>
              <a:gd name="adj" fmla="val 12000"/>
            </a:avLst>
          </a:prstGeom>
          <a:solidFill>
            <a:srgbClr val="EFF6F1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4251960"/>
            <a:ext cx="1513789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E8B57"/>
                </a:solidFill>
                <a:latin typeface="Microsoft YaHei"/>
                <a:ea typeface="Microsoft YaHei"/>
              </a:rPr>
              <a:t>平台支撑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5B40"/>
                </a:solidFill>
                <a:latin typeface="Microsoft YaHei"/>
                <a:ea typeface="Microsoft YaHei"/>
              </a:rPr>
              <a:t>⑦⑧ 看板 + SLA 跟踪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254453" y="2468880"/>
            <a:ext cx="91440" cy="4572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355037" y="1508760"/>
            <a:ext cx="1788109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355037" y="1508760"/>
            <a:ext cx="1788109" cy="713232"/>
          </a:xfrm>
          <a:prstGeom prst="roundRect">
            <a:avLst>
              <a:gd name="adj" fmla="val 10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5037" y="1563624"/>
            <a:ext cx="178810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DEAF4"/>
                </a:solidFill>
                <a:latin typeface="Microsoft YaHei"/>
                <a:ea typeface="Microsoft YaHei"/>
              </a:rPr>
              <a:t>阶段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5037" y="1819656"/>
            <a:ext cx="178810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审核请求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40431" y="2441448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E06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40431" y="2487168"/>
            <a:ext cx="1417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紧迫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55037" y="2926080"/>
            <a:ext cx="1788109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7088"/>
                </a:solidFill>
                <a:latin typeface="Microsoft YaHei"/>
                <a:ea typeface="Microsoft YaHei"/>
              </a:rPr>
              <a:t>情绪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46477" y="3291840"/>
            <a:ext cx="1605229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2E74B5"/>
                </a:solidFill>
                <a:latin typeface="Microsoft YaHei"/>
                <a:ea typeface="Microsoft YaHei"/>
              </a:rPr>
              <a:t>动作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3414F"/>
                </a:solidFill>
                <a:latin typeface="Microsoft YaHei"/>
                <a:ea typeface="Microsoft YaHei"/>
              </a:rPr>
              <a:t>中危我审/高危双重审核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28189" y="4206240"/>
            <a:ext cx="1641805" cy="822960"/>
          </a:xfrm>
          <a:prstGeom prst="roundRect">
            <a:avLst>
              <a:gd name="adj" fmla="val 12000"/>
            </a:avLst>
          </a:prstGeom>
          <a:solidFill>
            <a:srgbClr val="EFF6F1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01341" y="4251960"/>
            <a:ext cx="1513789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E8B57"/>
                </a:solidFill>
                <a:latin typeface="Microsoft YaHei"/>
                <a:ea typeface="Microsoft YaHei"/>
              </a:rPr>
              <a:t>平台支撑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5B40"/>
                </a:solidFill>
                <a:latin typeface="Microsoft YaHei"/>
                <a:ea typeface="Microsoft YaHei"/>
              </a:rPr>
              <a:t>高危实时推送 + 优先级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152290" y="2468880"/>
            <a:ext cx="91440" cy="4572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252874" y="1508760"/>
            <a:ext cx="1788109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252874" y="1508760"/>
            <a:ext cx="1788109" cy="713232"/>
          </a:xfrm>
          <a:prstGeom prst="roundRect">
            <a:avLst>
              <a:gd name="adj" fmla="val 10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2874" y="1563624"/>
            <a:ext cx="178810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DEAF4"/>
                </a:solidFill>
                <a:latin typeface="Microsoft YaHei"/>
                <a:ea typeface="Microsoft YaHei"/>
              </a:rPr>
              <a:t>阶段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2874" y="1819656"/>
            <a:ext cx="178810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评估风险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8268" y="2441448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9AA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8268" y="2487168"/>
            <a:ext cx="1417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需判断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2874" y="2926080"/>
            <a:ext cx="1788109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7088"/>
                </a:solidFill>
                <a:latin typeface="Microsoft YaHei"/>
                <a:ea typeface="Microsoft YaHei"/>
              </a:rPr>
              <a:t>情绪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4314" y="3291840"/>
            <a:ext cx="1605229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2E74B5"/>
                </a:solidFill>
                <a:latin typeface="Microsoft YaHei"/>
                <a:ea typeface="Microsoft YaHei"/>
              </a:rPr>
              <a:t>动作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3414F"/>
                </a:solidFill>
                <a:latin typeface="Microsoft YaHei"/>
                <a:ea typeface="Microsoft YaHei"/>
              </a:rPr>
              <a:t>看多维度门控与候选排序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26026" y="4206240"/>
            <a:ext cx="1641805" cy="822960"/>
          </a:xfrm>
          <a:prstGeom prst="roundRect">
            <a:avLst>
              <a:gd name="adj" fmla="val 12000"/>
            </a:avLst>
          </a:prstGeom>
          <a:solidFill>
            <a:srgbClr val="EFF6F1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99178" y="4251960"/>
            <a:ext cx="1513789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E8B57"/>
                </a:solidFill>
                <a:latin typeface="Microsoft YaHei"/>
                <a:ea typeface="Microsoft YaHei"/>
              </a:rPr>
              <a:t>平台支撑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5B40"/>
                </a:solidFill>
                <a:latin typeface="Microsoft YaHei"/>
                <a:ea typeface="Microsoft YaHei"/>
              </a:rPr>
              <a:t>⑤ 多维度门控(非只看CVSS)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6050127" y="2468880"/>
            <a:ext cx="91440" cy="4572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150711" y="1508760"/>
            <a:ext cx="1788109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50711" y="1508760"/>
            <a:ext cx="1788109" cy="713232"/>
          </a:xfrm>
          <a:prstGeom prst="roundRect">
            <a:avLst>
              <a:gd name="adj" fmla="val 10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50711" y="1563624"/>
            <a:ext cx="178810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DEAF4"/>
                </a:solidFill>
                <a:latin typeface="Microsoft YaHei"/>
                <a:ea typeface="Microsoft YaHei"/>
              </a:rPr>
              <a:t>阶段 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50711" y="1819656"/>
            <a:ext cx="178810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双重审核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36105" y="2441448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5B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36105" y="2487168"/>
            <a:ext cx="1417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协作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50711" y="2926080"/>
            <a:ext cx="1788109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7088"/>
                </a:solidFill>
                <a:latin typeface="Microsoft YaHei"/>
                <a:ea typeface="Microsoft YaHei"/>
              </a:rPr>
              <a:t>情绪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42151" y="3291840"/>
            <a:ext cx="1605229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2E74B5"/>
                </a:solidFill>
                <a:latin typeface="Microsoft YaHei"/>
                <a:ea typeface="Microsoft YaHei"/>
              </a:rPr>
              <a:t>动作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3414F"/>
                </a:solidFill>
                <a:latin typeface="Microsoft YaHei"/>
                <a:ea typeface="Microsoft YaHei"/>
              </a:rPr>
              <a:t>与安全团队会签草稿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23863" y="4206240"/>
            <a:ext cx="1641805" cy="822960"/>
          </a:xfrm>
          <a:prstGeom prst="roundRect">
            <a:avLst>
              <a:gd name="adj" fmla="val 12000"/>
            </a:avLst>
          </a:prstGeom>
          <a:solidFill>
            <a:srgbClr val="EFF6F1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97015" y="4251960"/>
            <a:ext cx="1513789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E8B57"/>
                </a:solidFill>
                <a:latin typeface="Microsoft YaHei"/>
                <a:ea typeface="Microsoft YaHei"/>
              </a:rPr>
              <a:t>平台支撑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5B40"/>
                </a:solidFill>
                <a:latin typeface="Microsoft YaHei"/>
                <a:ea typeface="Microsoft YaHei"/>
              </a:rPr>
              <a:t>全链路留痕 · 抵赖防护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7947964" y="2468880"/>
            <a:ext cx="91440" cy="4572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048548" y="1508760"/>
            <a:ext cx="1788109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048548" y="1508760"/>
            <a:ext cx="1788109" cy="713232"/>
          </a:xfrm>
          <a:prstGeom prst="roundRect">
            <a:avLst>
              <a:gd name="adj" fmla="val 10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48548" y="1563624"/>
            <a:ext cx="178810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DEAF4"/>
                </a:solidFill>
                <a:latin typeface="Microsoft YaHei"/>
                <a:ea typeface="Microsoft YaHei"/>
              </a:rPr>
              <a:t>阶段 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8548" y="1819656"/>
            <a:ext cx="178810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批准/打回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33942" y="2441448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9AA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33942" y="2487168"/>
            <a:ext cx="1417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担责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48548" y="2926080"/>
            <a:ext cx="1788109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7088"/>
                </a:solidFill>
                <a:latin typeface="Microsoft YaHei"/>
                <a:ea typeface="Microsoft YaHei"/>
              </a:rPr>
              <a:t>情绪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9988" y="3291840"/>
            <a:ext cx="1605229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2E74B5"/>
                </a:solidFill>
                <a:latin typeface="Microsoft YaHei"/>
                <a:ea typeface="Microsoft YaHei"/>
              </a:rPr>
              <a:t>动作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3414F"/>
                </a:solidFill>
                <a:latin typeface="Microsoft YaHei"/>
                <a:ea typeface="Microsoft YaHei"/>
              </a:rPr>
              <a:t>通过或打回触发重试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21700" y="4206240"/>
            <a:ext cx="1641805" cy="822960"/>
          </a:xfrm>
          <a:prstGeom prst="roundRect">
            <a:avLst>
              <a:gd name="adj" fmla="val 12000"/>
            </a:avLst>
          </a:prstGeom>
          <a:solidFill>
            <a:srgbClr val="EFF6F1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94852" y="4251960"/>
            <a:ext cx="1513789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E8B57"/>
                </a:solidFill>
                <a:latin typeface="Microsoft YaHei"/>
                <a:ea typeface="Microsoft YaHei"/>
              </a:rPr>
              <a:t>平台支撑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5B40"/>
                </a:solidFill>
                <a:latin typeface="Microsoft YaHei"/>
                <a:ea typeface="Microsoft YaHei"/>
              </a:rPr>
              <a:t>⑥ 重试≤3 转人工 + 上限</a:t>
            </a:r>
          </a:p>
        </p:txBody>
      </p:sp>
      <p:sp>
        <p:nvSpPr>
          <p:cNvPr id="60" name="Right Arrow 59"/>
          <p:cNvSpPr/>
          <p:nvPr/>
        </p:nvSpPr>
        <p:spPr>
          <a:xfrm>
            <a:off x="9845801" y="2468880"/>
            <a:ext cx="91440" cy="4572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9946385" y="1508760"/>
            <a:ext cx="1788109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946385" y="1508760"/>
            <a:ext cx="1788109" cy="713232"/>
          </a:xfrm>
          <a:prstGeom prst="roundRect">
            <a:avLst>
              <a:gd name="adj" fmla="val 10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46385" y="1563624"/>
            <a:ext cx="178810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DEAF4"/>
                </a:solidFill>
                <a:latin typeface="Microsoft YaHei"/>
                <a:ea typeface="Microsoft YaHei"/>
              </a:rPr>
              <a:t>阶段 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46385" y="1819656"/>
            <a:ext cx="178810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跟踪 SLA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131779" y="2441448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5B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131779" y="2487168"/>
            <a:ext cx="1417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尽在掌握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946385" y="2926080"/>
            <a:ext cx="1788109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7088"/>
                </a:solidFill>
                <a:latin typeface="Microsoft YaHei"/>
                <a:ea typeface="Microsoft YaHei"/>
              </a:rPr>
              <a:t>情绪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37825" y="3291840"/>
            <a:ext cx="1605229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2E74B5"/>
                </a:solidFill>
                <a:latin typeface="Microsoft YaHei"/>
                <a:ea typeface="Microsoft YaHei"/>
              </a:rPr>
              <a:t>动作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3414F"/>
                </a:solidFill>
                <a:latin typeface="Microsoft YaHei"/>
                <a:ea typeface="Microsoft YaHei"/>
              </a:rPr>
              <a:t>监控修复 SLA 与回归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019537" y="4206240"/>
            <a:ext cx="1641805" cy="822960"/>
          </a:xfrm>
          <a:prstGeom prst="roundRect">
            <a:avLst>
              <a:gd name="adj" fmla="val 12000"/>
            </a:avLst>
          </a:prstGeom>
          <a:solidFill>
            <a:srgbClr val="EFF6F1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092689" y="4251960"/>
            <a:ext cx="1513789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E8B57"/>
                </a:solidFill>
                <a:latin typeface="Microsoft YaHei"/>
                <a:ea typeface="Microsoft YaHei"/>
              </a:rPr>
              <a:t>平台支撑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5B40"/>
                </a:solidFill>
                <a:latin typeface="Microsoft YaHei"/>
                <a:ea typeface="Microsoft YaHei"/>
              </a:rPr>
              <a:t>3.6.3 复发熔断告警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" y="63550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7088"/>
                </a:solidFill>
                <a:latin typeface="Microsoft YaHei"/>
                <a:ea typeface="Microsoft YaHei"/>
              </a:rPr>
              <a:t>情绪沿旅程变化　·　每阶段绿色块为对应的平台支撑（v3.2）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安全团队 / 平台运营 · 作业旅程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41248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7088"/>
                </a:solidFill>
                <a:latin typeface="Microsoft YaHei"/>
                <a:ea typeface="Microsoft YaHei"/>
              </a:rPr>
              <a:t>编排挖掘任务与 LLM 算力 · 处置高危/严重 · 审计与负责任披露 · 守护平台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1516989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1516989" cy="713232"/>
          </a:xfrm>
          <a:prstGeom prst="roundRect">
            <a:avLst>
              <a:gd name="adj" fmla="val 10000"/>
            </a:avLst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63624"/>
            <a:ext cx="151698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DEAF4"/>
                </a:solidFill>
                <a:latin typeface="Microsoft YaHei"/>
                <a:ea typeface="Microsoft YaHei"/>
              </a:rPr>
              <a:t>阶段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19656"/>
            <a:ext cx="151698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下发任务·选型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034" y="2441448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9AA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034" y="2487168"/>
            <a:ext cx="1417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掌控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1516989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7088"/>
                </a:solidFill>
                <a:latin typeface="Microsoft YaHei"/>
                <a:ea typeface="Microsoft YaHei"/>
              </a:rPr>
              <a:t>情绪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91840"/>
            <a:ext cx="1334109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E08A00"/>
                </a:solidFill>
                <a:latin typeface="Microsoft YaHei"/>
                <a:ea typeface="Microsoft YaHei"/>
              </a:rPr>
              <a:t>动作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3414F"/>
                </a:solidFill>
                <a:latin typeface="Microsoft YaHei"/>
                <a:ea typeface="Microsoft YaHei"/>
              </a:rPr>
              <a:t>提交代码库/软件包/在线服务·指定引擎实现体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4206240"/>
            <a:ext cx="1370685" cy="822960"/>
          </a:xfrm>
          <a:prstGeom prst="roundRect">
            <a:avLst>
              <a:gd name="adj" fmla="val 12000"/>
            </a:avLst>
          </a:prstGeom>
          <a:solidFill>
            <a:srgbClr val="EFF6F1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4251960"/>
            <a:ext cx="1242669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E8B57"/>
                </a:solidFill>
                <a:latin typeface="Microsoft YaHei"/>
                <a:ea typeface="Microsoft YaHei"/>
              </a:rPr>
              <a:t>平台支撑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5B40"/>
                </a:solidFill>
                <a:latin typeface="Microsoft YaHei"/>
                <a:ea typeface="Microsoft YaHei"/>
              </a:rPr>
              <a:t>① 统一任务模型 + 引擎多实现体可插拔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983333" y="2468880"/>
            <a:ext cx="91440" cy="4572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083917" y="1508760"/>
            <a:ext cx="1516989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083917" y="1508760"/>
            <a:ext cx="1516989" cy="713232"/>
          </a:xfrm>
          <a:prstGeom prst="roundRect">
            <a:avLst>
              <a:gd name="adj" fmla="val 10000"/>
            </a:avLst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83917" y="1563624"/>
            <a:ext cx="151698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DEAF4"/>
                </a:solidFill>
                <a:latin typeface="Microsoft YaHei"/>
                <a:ea typeface="Microsoft YaHei"/>
              </a:rPr>
              <a:t>阶段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83917" y="1819656"/>
            <a:ext cx="151698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算力调度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33751" y="2441448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9AA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3751" y="2487168"/>
            <a:ext cx="1417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统筹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83917" y="2926080"/>
            <a:ext cx="1516989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7088"/>
                </a:solidFill>
                <a:latin typeface="Microsoft YaHei"/>
                <a:ea typeface="Microsoft YaHei"/>
              </a:rPr>
              <a:t>情绪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75357" y="3291840"/>
            <a:ext cx="1334109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E08A00"/>
                </a:solidFill>
                <a:latin typeface="Microsoft YaHei"/>
                <a:ea typeface="Microsoft YaHei"/>
              </a:rPr>
              <a:t>动作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3414F"/>
                </a:solidFill>
                <a:latin typeface="Microsoft YaHei"/>
                <a:ea typeface="Microsoft YaHei"/>
              </a:rPr>
              <a:t>分配 LLM API 并发额度·保证算力打满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57069" y="4206240"/>
            <a:ext cx="1370685" cy="822960"/>
          </a:xfrm>
          <a:prstGeom prst="roundRect">
            <a:avLst>
              <a:gd name="adj" fmla="val 12000"/>
            </a:avLst>
          </a:prstGeom>
          <a:solidFill>
            <a:srgbClr val="EFF6F1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30221" y="4251960"/>
            <a:ext cx="1242669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E8B57"/>
                </a:solidFill>
                <a:latin typeface="Microsoft YaHei"/>
                <a:ea typeface="Microsoft YaHei"/>
              </a:rPr>
              <a:t>平台支撑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5B40"/>
                </a:solidFill>
                <a:latin typeface="Microsoft YaHei"/>
                <a:ea typeface="Microsoft YaHei"/>
              </a:rPr>
              <a:t>① 并发纳管/配额 + 月预算上限·降级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610050" y="2468880"/>
            <a:ext cx="91440" cy="4572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710634" y="1508760"/>
            <a:ext cx="1516989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710634" y="1508760"/>
            <a:ext cx="1516989" cy="713232"/>
          </a:xfrm>
          <a:prstGeom prst="roundRect">
            <a:avLst>
              <a:gd name="adj" fmla="val 10000"/>
            </a:avLst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10634" y="1563624"/>
            <a:ext cx="151698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DEAF4"/>
                </a:solidFill>
                <a:latin typeface="Microsoft YaHei"/>
                <a:ea typeface="Microsoft YaHei"/>
              </a:rPr>
              <a:t>阶段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10634" y="1819656"/>
            <a:ext cx="151698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严重应急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60468" y="2441448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60468" y="2487168"/>
            <a:ext cx="1417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很受压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10634" y="2926080"/>
            <a:ext cx="1516989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7088"/>
                </a:solidFill>
                <a:latin typeface="Microsoft YaHei"/>
                <a:ea typeface="Microsoft YaHei"/>
              </a:rPr>
              <a:t>情绪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02074" y="3291840"/>
            <a:ext cx="1334109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E08A00"/>
                </a:solidFill>
                <a:latin typeface="Microsoft YaHei"/>
                <a:ea typeface="Microsoft YaHei"/>
              </a:rPr>
              <a:t>动作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3414F"/>
                </a:solidFill>
                <a:latin typeface="Microsoft YaHei"/>
                <a:ea typeface="Microsoft YaHei"/>
              </a:rPr>
              <a:t>9–10 分立即告警·24h 响应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783786" y="4206240"/>
            <a:ext cx="1370685" cy="822960"/>
          </a:xfrm>
          <a:prstGeom prst="roundRect">
            <a:avLst>
              <a:gd name="adj" fmla="val 12000"/>
            </a:avLst>
          </a:prstGeom>
          <a:solidFill>
            <a:srgbClr val="EFF6F1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56938" y="4251960"/>
            <a:ext cx="1242669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E8B57"/>
                </a:solidFill>
                <a:latin typeface="Microsoft YaHei"/>
                <a:ea typeface="Microsoft YaHei"/>
              </a:rPr>
              <a:t>平台支撑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5B40"/>
                </a:solidFill>
                <a:latin typeface="Microsoft YaHei"/>
                <a:ea typeface="Microsoft YaHei"/>
              </a:rPr>
              <a:t>6.1 PoC 加密+RBAC+审计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5236767" y="2468880"/>
            <a:ext cx="91440" cy="4572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337351" y="1508760"/>
            <a:ext cx="1516989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337351" y="1508760"/>
            <a:ext cx="1516989" cy="713232"/>
          </a:xfrm>
          <a:prstGeom prst="roundRect">
            <a:avLst>
              <a:gd name="adj" fmla="val 10000"/>
            </a:avLst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37351" y="1563624"/>
            <a:ext cx="151698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DEAF4"/>
                </a:solidFill>
                <a:latin typeface="Microsoft YaHei"/>
                <a:ea typeface="Microsoft YaHei"/>
              </a:rPr>
              <a:t>阶段 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37351" y="1819656"/>
            <a:ext cx="151698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高危会签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87185" y="2441448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E06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87185" y="2487168"/>
            <a:ext cx="1417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严谨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37351" y="2926080"/>
            <a:ext cx="1516989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7088"/>
                </a:solidFill>
                <a:latin typeface="Microsoft YaHei"/>
                <a:ea typeface="Microsoft YaHei"/>
              </a:rPr>
              <a:t>情绪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28791" y="3291840"/>
            <a:ext cx="1334109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E08A00"/>
                </a:solidFill>
                <a:latin typeface="Microsoft YaHei"/>
                <a:ea typeface="Microsoft YaHei"/>
              </a:rPr>
              <a:t>动作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3414F"/>
                </a:solidFill>
                <a:latin typeface="Microsoft YaHei"/>
                <a:ea typeface="Microsoft YaHei"/>
              </a:rPr>
              <a:t>与 Lead 双重审核草稿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10503" y="4206240"/>
            <a:ext cx="1370685" cy="822960"/>
          </a:xfrm>
          <a:prstGeom prst="roundRect">
            <a:avLst>
              <a:gd name="adj" fmla="val 12000"/>
            </a:avLst>
          </a:prstGeom>
          <a:solidFill>
            <a:srgbClr val="EFF6F1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3655" y="4251960"/>
            <a:ext cx="1242669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E8B57"/>
                </a:solidFill>
                <a:latin typeface="Microsoft YaHei"/>
                <a:ea typeface="Microsoft YaHei"/>
              </a:rPr>
              <a:t>平台支撑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5B40"/>
                </a:solidFill>
                <a:latin typeface="Microsoft YaHei"/>
                <a:ea typeface="Microsoft YaHei"/>
              </a:rPr>
              <a:t>第9章 产物独立校验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6863484" y="2468880"/>
            <a:ext cx="91440" cy="4572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964068" y="1508760"/>
            <a:ext cx="1516989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964068" y="1508760"/>
            <a:ext cx="1516989" cy="713232"/>
          </a:xfrm>
          <a:prstGeom prst="roundRect">
            <a:avLst>
              <a:gd name="adj" fmla="val 10000"/>
            </a:avLst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64068" y="1563624"/>
            <a:ext cx="151698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DEAF4"/>
                </a:solidFill>
                <a:latin typeface="Microsoft YaHei"/>
                <a:ea typeface="Microsoft YaHei"/>
              </a:rPr>
              <a:t>阶段 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64068" y="1819656"/>
            <a:ext cx="151698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人工攻坚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013902" y="2441448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E06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13902" y="2487168"/>
            <a:ext cx="1417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攻坚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64068" y="2926080"/>
            <a:ext cx="1516989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7088"/>
                </a:solidFill>
                <a:latin typeface="Microsoft YaHei"/>
                <a:ea typeface="Microsoft YaHei"/>
              </a:rPr>
              <a:t>情绪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55508" y="3291840"/>
            <a:ext cx="1334109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E08A00"/>
                </a:solidFill>
                <a:latin typeface="Microsoft YaHei"/>
                <a:ea typeface="Microsoft YaHei"/>
              </a:rPr>
              <a:t>动作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3414F"/>
                </a:solidFill>
                <a:latin typeface="Microsoft YaHei"/>
                <a:ea typeface="Microsoft YaHei"/>
              </a:rPr>
              <a:t>处置「需人工处理」队列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037220" y="4206240"/>
            <a:ext cx="1370685" cy="822960"/>
          </a:xfrm>
          <a:prstGeom prst="roundRect">
            <a:avLst>
              <a:gd name="adj" fmla="val 12000"/>
            </a:avLst>
          </a:prstGeom>
          <a:solidFill>
            <a:srgbClr val="EFF6F1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10372" y="4251960"/>
            <a:ext cx="1242669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E8B57"/>
                </a:solidFill>
                <a:latin typeface="Microsoft YaHei"/>
                <a:ea typeface="Microsoft YaHei"/>
              </a:rPr>
              <a:t>平台支撑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5B40"/>
                </a:solidFill>
                <a:latin typeface="Microsoft YaHei"/>
                <a:ea typeface="Microsoft YaHei"/>
              </a:rPr>
              <a:t>④ microVM 一次性虚机</a:t>
            </a:r>
          </a:p>
        </p:txBody>
      </p:sp>
      <p:sp>
        <p:nvSpPr>
          <p:cNvPr id="60" name="Right Arrow 59"/>
          <p:cNvSpPr/>
          <p:nvPr/>
        </p:nvSpPr>
        <p:spPr>
          <a:xfrm>
            <a:off x="8490201" y="2468880"/>
            <a:ext cx="91440" cy="4572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590785" y="1508760"/>
            <a:ext cx="1516989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590785" y="1508760"/>
            <a:ext cx="1516989" cy="713232"/>
          </a:xfrm>
          <a:prstGeom prst="roundRect">
            <a:avLst>
              <a:gd name="adj" fmla="val 10000"/>
            </a:avLst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90785" y="1563624"/>
            <a:ext cx="151698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DEAF4"/>
                </a:solidFill>
                <a:latin typeface="Microsoft YaHei"/>
                <a:ea typeface="Microsoft YaHei"/>
              </a:rPr>
              <a:t>阶段 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90785" y="1819656"/>
            <a:ext cx="151698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治理与披露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640619" y="2441448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5B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40619" y="2487168"/>
            <a:ext cx="1417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见成效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90785" y="2926080"/>
            <a:ext cx="1516989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7088"/>
                </a:solidFill>
                <a:latin typeface="Microsoft YaHei"/>
                <a:ea typeface="Microsoft YaHei"/>
              </a:rPr>
              <a:t>情绪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82225" y="3291840"/>
            <a:ext cx="1334109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E08A00"/>
                </a:solidFill>
                <a:latin typeface="Microsoft YaHei"/>
                <a:ea typeface="Microsoft YaHei"/>
              </a:rPr>
              <a:t>动作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3414F"/>
                </a:solidFill>
                <a:latin typeface="Microsoft YaHei"/>
                <a:ea typeface="Microsoft YaHei"/>
              </a:rPr>
              <a:t>误报/漏报调优·90 天协调披露·CVE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663937" y="4206240"/>
            <a:ext cx="1370685" cy="822960"/>
          </a:xfrm>
          <a:prstGeom prst="roundRect">
            <a:avLst>
              <a:gd name="adj" fmla="val 12000"/>
            </a:avLst>
          </a:prstGeom>
          <a:solidFill>
            <a:srgbClr val="EFF6F1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37089" y="4251960"/>
            <a:ext cx="1242669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E8B57"/>
                </a:solidFill>
                <a:latin typeface="Microsoft YaHei"/>
                <a:ea typeface="Microsoft YaHei"/>
              </a:rPr>
              <a:t>平台支撑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5B40"/>
                </a:solidFill>
                <a:latin typeface="Microsoft YaHei"/>
                <a:ea typeface="Microsoft YaHei"/>
              </a:rPr>
              <a:t>召回 KPI + 6.3 负责任披露+审计</a:t>
            </a:r>
          </a:p>
        </p:txBody>
      </p:sp>
      <p:sp>
        <p:nvSpPr>
          <p:cNvPr id="71" name="Right Arrow 70"/>
          <p:cNvSpPr/>
          <p:nvPr/>
        </p:nvSpPr>
        <p:spPr>
          <a:xfrm>
            <a:off x="10116918" y="2468880"/>
            <a:ext cx="91440" cy="4572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0217502" y="1508760"/>
            <a:ext cx="1516989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217502" y="1508760"/>
            <a:ext cx="1516989" cy="713232"/>
          </a:xfrm>
          <a:prstGeom prst="roundRect">
            <a:avLst>
              <a:gd name="adj" fmla="val 10000"/>
            </a:avLst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217502" y="1563624"/>
            <a:ext cx="151698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DEAF4"/>
                </a:solidFill>
                <a:latin typeface="Microsoft YaHei"/>
                <a:ea typeface="Microsoft YaHei"/>
              </a:rPr>
              <a:t>阶段 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17502" y="1819656"/>
            <a:ext cx="151698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守护平台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267336" y="2441448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9AA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267336" y="2487168"/>
            <a:ext cx="1417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持续守护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217502" y="2926080"/>
            <a:ext cx="1516989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7088"/>
                </a:solidFill>
                <a:latin typeface="Microsoft YaHei"/>
                <a:ea typeface="Microsoft YaHei"/>
              </a:rPr>
              <a:t>情绪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308942" y="3291840"/>
            <a:ext cx="1334109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E08A00"/>
                </a:solidFill>
                <a:latin typeface="Microsoft YaHei"/>
                <a:ea typeface="Microsoft YaHei"/>
              </a:rPr>
              <a:t>动作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3414F"/>
                </a:solidFill>
                <a:latin typeface="Microsoft YaHei"/>
                <a:ea typeface="Microsoft YaHei"/>
              </a:rPr>
              <a:t>红队·凭据轮换·信任边界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290654" y="4206240"/>
            <a:ext cx="1370685" cy="822960"/>
          </a:xfrm>
          <a:prstGeom prst="roundRect">
            <a:avLst>
              <a:gd name="adj" fmla="val 12000"/>
            </a:avLst>
          </a:prstGeom>
          <a:solidFill>
            <a:srgbClr val="EFF6F1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363806" y="4251960"/>
            <a:ext cx="1242669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E8B57"/>
                </a:solidFill>
                <a:latin typeface="Microsoft YaHei"/>
                <a:ea typeface="Microsoft YaHei"/>
              </a:rPr>
              <a:t>平台支撑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5B40"/>
                </a:solidFill>
                <a:latin typeface="Microsoft YaHei"/>
                <a:ea typeface="Microsoft YaHei"/>
              </a:rPr>
              <a:t>第9章 Fail-safe 兜底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2920" y="63550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7088"/>
                </a:solidFill>
                <a:latin typeface="Microsoft YaHei"/>
                <a:ea typeface="Microsoft YaHei"/>
              </a:rPr>
              <a:t>情绪沿旅程变化　·　每阶段绿色块为对应的平台支撑（v3.2）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一图小结：核心痛点 → 平台支撑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111556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146304" cy="1280160"/>
          </a:xfrm>
          <a:prstGeom prst="roundRect">
            <a:avLst/>
          </a:prstGeom>
          <a:solidFill>
            <a:srgbClr val="2C8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1581912"/>
            <a:ext cx="585216" cy="585216"/>
          </a:xfrm>
          <a:prstGeom prst="ellipse">
            <a:avLst/>
          </a:prstGeom>
          <a:solidFill>
            <a:srgbClr val="2C8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81912"/>
            <a:ext cx="585216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研发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380744"/>
            <a:ext cx="2331720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C8C99"/>
                </a:solidFill>
                <a:latin typeface="Microsoft YaHei"/>
                <a:ea typeface="Microsoft YaHei"/>
              </a:rPr>
              <a:t>研发工程师 / Owner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399032"/>
            <a:ext cx="3520440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B03A2E"/>
                </a:solidFill>
                <a:latin typeface="Microsoft YaHei"/>
                <a:ea typeface="Microsoft YaHei"/>
              </a:rPr>
              <a:t>痛点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33414F"/>
                </a:solidFill>
                <a:latin typeface="Microsoft YaHei"/>
                <a:ea typeface="Microsoft YaHei"/>
              </a:rPr>
              <a:t>怕 AI 补丁改坏逻辑或被自动合并失控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399032"/>
            <a:ext cx="3886200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E8B57"/>
                </a:solidFill>
                <a:latin typeface="Microsoft YaHei"/>
                <a:ea typeface="Microsoft YaHei"/>
              </a:rPr>
              <a:t>平台支撑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F5B40"/>
                </a:solidFill>
                <a:latin typeface="Microsoft YaHei"/>
                <a:ea typeface="Microsoft YaHei"/>
              </a:rPr>
              <a:t>取消低危全自动合并 · 合并前强制人工 approval · 独立工具链 + 回滚/熔断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97480"/>
            <a:ext cx="111556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2697480"/>
            <a:ext cx="146304" cy="128016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3044952"/>
            <a:ext cx="585216" cy="585216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044952"/>
            <a:ext cx="585216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Lead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43784"/>
            <a:ext cx="2331720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E74B5"/>
                </a:solidFill>
                <a:latin typeface="Microsoft YaHei"/>
                <a:ea typeface="Microsoft YaHei"/>
              </a:rPr>
              <a:t>研发 Lead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862072"/>
            <a:ext cx="3520440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B03A2E"/>
                </a:solidFill>
                <a:latin typeface="Microsoft YaHei"/>
                <a:ea typeface="Microsoft YaHei"/>
              </a:rPr>
              <a:t>痛点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33414F"/>
                </a:solidFill>
                <a:latin typeface="Microsoft YaHei"/>
                <a:ea typeface="Microsoft YaHei"/>
              </a:rPr>
              <a:t>低 CVSS 漏洞却落在鉴权/支付等关键路径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2862072"/>
            <a:ext cx="3886200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E8B57"/>
                </a:solidFill>
                <a:latin typeface="Microsoft YaHei"/>
                <a:ea typeface="Microsoft YaHei"/>
              </a:rPr>
              <a:t>平台支撑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F5B40"/>
                </a:solidFill>
                <a:latin typeface="Microsoft YaHei"/>
                <a:ea typeface="Microsoft YaHei"/>
              </a:rPr>
              <a:t>门控不只看 CVSS：综合资产关键性 × 侵入性 × 置信度，全链路留痕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160520"/>
            <a:ext cx="111556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4160520"/>
            <a:ext cx="146304" cy="1280160"/>
          </a:xfrm>
          <a:prstGeom prst="round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9808" y="4507992"/>
            <a:ext cx="585216" cy="585216"/>
          </a:xfrm>
          <a:prstGeom prst="ellipse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507992"/>
            <a:ext cx="585216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安全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306824"/>
            <a:ext cx="2331720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E08A00"/>
                </a:solidFill>
                <a:latin typeface="Microsoft YaHei"/>
                <a:ea typeface="Microsoft YaHei"/>
              </a:rPr>
              <a:t>安全团队 / 运营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325112"/>
            <a:ext cx="3520440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B03A2E"/>
                </a:solidFill>
                <a:latin typeface="Microsoft YaHei"/>
                <a:ea typeface="Microsoft YaHei"/>
              </a:rPr>
              <a:t>痛点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33414F"/>
                </a:solidFill>
                <a:latin typeface="Microsoft YaHei"/>
                <a:ea typeface="Microsoft YaHei"/>
              </a:rPr>
              <a:t>PoC 武器化泄露、平台自身成最高价值攻击目标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4325112"/>
            <a:ext cx="3886200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E8B57"/>
                </a:solidFill>
                <a:latin typeface="Microsoft YaHei"/>
                <a:ea typeface="Microsoft YaHei"/>
              </a:rPr>
              <a:t>平台支撑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F5B40"/>
                </a:solidFill>
                <a:latin typeface="Microsoft YaHei"/>
                <a:ea typeface="Microsoft YaHei"/>
              </a:rPr>
              <a:t>PoC 加密 + 强 RBAC + 审计；提示注入独立校验；常态化红队 + 信任边界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3550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7088"/>
                </a:solidFill>
                <a:latin typeface="Microsoft YaHei"/>
                <a:ea typeface="Microsoft YaHei"/>
              </a:rPr>
              <a:t>详见完整版交互旅程地图 vuln_platform_user_journey.html 与架构文档 v3.2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